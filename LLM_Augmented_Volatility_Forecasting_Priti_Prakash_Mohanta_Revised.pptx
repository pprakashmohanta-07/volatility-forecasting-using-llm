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Next-day test RMSE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Historical-only
Before LLM</c:v>
                </c:pt>
                <c:pt idx="1">
                  <c:v>Historical + all
LLM features</c:v>
                </c:pt>
                <c:pt idx="2">
                  <c:v>Historical + focused
LLM features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4.6099999999999998E-4</c:v>
                </c:pt>
                <c:pt idx="1">
                  <c:v>4.6500000000000003E-4</c:v>
                </c:pt>
                <c:pt idx="2">
                  <c:v>4.64E-4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64-4060-8893-C0C86D8EF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Next-day test MAE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Historical-only
Before LLM</c:v>
                </c:pt>
                <c:pt idx="1">
                  <c:v>Historical + all
LLM features</c:v>
                </c:pt>
                <c:pt idx="2">
                  <c:v>Historical + focused
LLM features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2.24E-4</c:v>
                </c:pt>
                <c:pt idx="1">
                  <c:v>2.4800000000000001E-4</c:v>
                </c:pt>
                <c:pt idx="2">
                  <c:v>2.43E-4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1A-4302-A90B-243AC752F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Next-five test RMSE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Historical-only
Before LLM</c:v>
                </c:pt>
                <c:pt idx="1">
                  <c:v>Historical + all
LLM features</c:v>
                </c:pt>
                <c:pt idx="2">
                  <c:v>Historical + focused
LLM features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2.6400000000000002E-4</c:v>
                </c:pt>
                <c:pt idx="1">
                  <c:v>2.6800000000000001E-4</c:v>
                </c:pt>
                <c:pt idx="2">
                  <c:v>2.6600000000000001E-4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AB-471D-9F66-4F25E0EEDE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Next-five test MAE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Historical-only
Before LLM</c:v>
                </c:pt>
                <c:pt idx="1">
                  <c:v>Historical + all
LLM features</c:v>
                </c:pt>
                <c:pt idx="2">
                  <c:v>Historical + focused
LLM features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1.8900000000000001E-4</c:v>
                </c:pt>
                <c:pt idx="1">
                  <c:v>1.9599999999999999E-4</c:v>
                </c:pt>
                <c:pt idx="2">
                  <c:v>1.92E-4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BC-4158-9658-C39BFF2D0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slide. The subtitle names the study area but does not repeat the full research-question sentence. Explain the project investigates whether structured LLM news signals add predictive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the audience the question and result up front. Separate technical success from predictive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actual filenames used in the pipeline. Full news source was processed_news_dataset.csv with 309,041 rows; only a 1,000-article sample was sent through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replaces the earlier implementation note with quantitative pipeline details. 99.9% refers to successful extraction validation, not human classification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progression from raw market/news data to article-level outputs, daily features, and final aligned modelling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combined metric was selected to include both intraday movement and overnight gaps. It remains a proxy, not a perfect measurement of latent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Targets are future values; predictors are built only from information available before the forecast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summary to explain why volatility data are difficult: heavy tails and extreme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Ollama served the local Qwen model at localhost. Temperature was set to 0 and JSON mode/schema validation was used. No fine-tuning was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LLM use is justified as a research hypothesis: news meaning may add information. Results show the current signals did not improve the tested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an honest audit. The LLM extraction succeeded operationally, but relevance saturation and questionable labels limit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common-date filtering shrinks the sample: a fair comparison needs complete predictor and target rows. Sampling coverage remains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explicitly distinguishes models explored across the project from the final matched common-date Ridge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 means Heterogeneous Autoregressive model. In this implementation, lag-1, previous 5-observation average, and previous 22-observation average are the core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GARCH was estimated on ADANIENT.NS returns scaled by 100. Student-t errors allow heavier tails. The alpha-plus-beta persistence estimate was about 0.977.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GJR is an asymmetric extension. Its gamma estimate was not statistically significant in this fit, and model-selection metrics did not give a unanimous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GARCH metrics are for one stock and a squared-return proxy. Do not compare them numerically with the panel Ridge RMSEs because targets/scales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LLM means the historical-only baseline; after means adding news-derived features. The LLM models did not improve these test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pattern appears for the next-five target. Point estimates favour historical-only, but confidence intervals include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uncertainty intervals to avoid overclaiming statistical significance. The observed direction is negative for LLM, but the difference is inconclusive.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key difference between correlation and predictive value. The feature correlations are small and the model comparison controls for historical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slide contextual. Do not compare absolute RMSE values across different target scales or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limitations concise and constructive. Do not say PySpark was used unless the notebook contains actual Spark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conclusion carefully: the implementation did not demonstrate improvement, not that LLMs can never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55480" y="594360"/>
            <a:ext cx="1965960" cy="19659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834640"/>
            <a:ext cx="1143000" cy="114300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52560" y="4389120"/>
            <a:ext cx="2103120" cy="1828800"/>
          </a:xfrm>
          <a:prstGeom prst="rect">
            <a:avLst/>
          </a:prstGeom>
          <a:solidFill>
            <a:srgbClr val="274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732520" y="1143000"/>
            <a:ext cx="2834640" cy="3063240"/>
          </a:xfrm>
          <a:prstGeom prst="line">
            <a:avLst/>
          </a:prstGeom>
          <a:ln w="15240">
            <a:solidFill>
              <a:srgbClr val="5C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16568" y="1143000"/>
            <a:ext cx="2450592" cy="3291840"/>
          </a:xfrm>
          <a:prstGeom prst="line">
            <a:avLst/>
          </a:prstGeom>
          <a:ln w="15240">
            <a:solidFill>
              <a:srgbClr val="5C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00616" y="1143000"/>
            <a:ext cx="2066544" cy="3520440"/>
          </a:xfrm>
          <a:prstGeom prst="line">
            <a:avLst/>
          </a:prstGeom>
          <a:ln w="15240">
            <a:solidFill>
              <a:srgbClr val="5C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84664" y="1143000"/>
            <a:ext cx="1682496" cy="3749040"/>
          </a:xfrm>
          <a:prstGeom prst="line">
            <a:avLst/>
          </a:prstGeom>
          <a:ln w="15240">
            <a:solidFill>
              <a:srgbClr val="5C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68712" y="1143000"/>
            <a:ext cx="1298448" cy="3977640"/>
          </a:xfrm>
          <a:prstGeom prst="line">
            <a:avLst/>
          </a:prstGeom>
          <a:ln w="15240">
            <a:solidFill>
              <a:srgbClr val="5C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530352"/>
            <a:ext cx="3657600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CD3CA"/>
                </a:solidFill>
                <a:latin typeface="Aptos"/>
              </a:rPr>
              <a:t>CIA-2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051560"/>
            <a:ext cx="7772400" cy="1371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LLM-AUGMENTED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VOLATILITY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7498079" cy="4572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5CD3CA"/>
                </a:solidFill>
                <a:latin typeface="Aptos"/>
              </a:rPr>
              <a:t>Indian Equity Markets | News Signals + Time-Series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7635240" cy="10515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Priti Prakash Mohanta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MSc CS (Big Data Analytics), Semester III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Course Name: Enabling Technologies | Course Code: 6.5MBD01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7772400" cy="77724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7E0ED"/>
                </a:solidFill>
                <a:latin typeface="Aptos"/>
              </a:rPr>
              <a:t>Submitted to Dr Nishtha Kesswani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7E0ED"/>
                </a:solidFill>
                <a:latin typeface="Aptos"/>
              </a:rPr>
              <a:t>Department of Data Science and Analytics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D7E0ED"/>
                </a:solidFill>
                <a:latin typeface="Aptos"/>
              </a:rPr>
              <a:t>Central University of Rajasthan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19088"/>
            <a:ext cx="640080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CD3CA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8580" cy="1325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35607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Research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01368"/>
            <a:ext cx="320040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Test whether LLM-extracted news features improve volatility forecasts.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8580" cy="1325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435607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Market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01368"/>
            <a:ext cx="320040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74,438 stock-date rows across 50 symbols.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68580" cy="1325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35607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LLM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01368"/>
            <a:ext cx="320040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1,000 articles processed; 999 passed schema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51560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2340"/>
                </a:solidFill>
                <a:latin typeface="Aptos"/>
              </a:rPr>
              <a:t>Headline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10698480" cy="9601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32E3E"/>
                </a:solidFill>
                <a:latin typeface="Aptos"/>
              </a:rPr>
              <a:t>Historical-only Ridge forecasts had the lowest test RMSE and MAE at both horizons. LLM features were extracted successfully, but did not demonstrate incremental forecast improvement.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424160" cy="54864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9"/>
                </a:solidFill>
                <a:latin typeface="Aptos"/>
              </a:rPr>
              <a:t>Important: this is a result for this sample, feature design and test period—not proof that all LLM news features are useless.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Objectives and actual project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835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Dataset / file used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Contents and role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market_combined_volatility_targets.parquet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Stock OHLCV data, combined variance proxy, next-1 and next-5 targets.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llm_news_sample_1000.csv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1,000 sampled articles: article_id, date, title, news, URL, combined_text.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llm_news_features_results.csv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LLM-generated sentiment, uncertainty, materiality, category, scope and extraction status.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llm_article_features_with_dates.csv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Article metadata joined back to LLM outputs; dates/titles restored.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llm_daily_features_sample.csv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Daily aggregation of article-level LLM features.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market_llm_common_date_diagnostic.parquet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Market + historical + news features after complete-case alignment.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977639"/>
            <a:ext cx="10424160" cy="16459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Build and evaluate historical volatility predictors.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Extract interpretable signals from sampled news with a local LLM.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Compare baseline vs all-news and focused-news feature sets at two horizons.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Data engineering and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68580" cy="182880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Market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59" y="2386584"/>
            <a:ext cx="1284732" cy="46679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74,438 rows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50 symbols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331720"/>
            <a:ext cx="219456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9152" y="1645920"/>
            <a:ext cx="68580" cy="182880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42032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6331" y="2386584"/>
            <a:ext cx="1284732" cy="46679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GK + overnight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rolling 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31720"/>
            <a:ext cx="219456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6824" y="1645920"/>
            <a:ext cx="68580" cy="182880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LLM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4003" y="2386584"/>
            <a:ext cx="1284732" cy="6514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1,000 articles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sampled from corpus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331720"/>
            <a:ext cx="219456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4496" y="1645920"/>
            <a:ext cx="68580" cy="182880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LLM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5" y="2386584"/>
            <a:ext cx="1284732" cy="46679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999 success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1 failed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2331720"/>
            <a:ext cx="219456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7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02167" y="1645920"/>
            <a:ext cx="68580" cy="182880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7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Daily aggregation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2331720"/>
            <a:ext cx="1371599" cy="6514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786 dates in sample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features by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331720"/>
            <a:ext cx="219456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39" y="1645920"/>
            <a:ext cx="171907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49839" y="1645920"/>
            <a:ext cx="68580" cy="182880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9" y="17556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Common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7019" y="2386584"/>
            <a:ext cx="1284731" cy="46679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31,293 rows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32E3E"/>
                </a:solidFill>
                <a:latin typeface="Aptos"/>
              </a:rPr>
              <a:t>651 dates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4160520"/>
          <a:ext cx="107441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Coverage measure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Full news corpus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309,041 articles; 2020-01-01 to 2026-03-31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LLM sample success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999 / 1,000 (99.9% schema-valid)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Common-date sample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31,293 stock-date rows; 651 dates; 50 symbols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77240" y="5715000"/>
            <a:ext cx="10424160" cy="23083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No sampled article on a date does not mean there was no real-world news that day</a:t>
            </a:r>
            <a:r>
              <a:rPr sz="1200" b="1" i="0" dirty="0">
                <a:solidFill>
                  <a:srgbClr val="BE4B49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DATA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Data sources and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Market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4937760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Source file: market_combined_volatility_targets.parquet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Core fields: Date, Symbol, Open, High, Low, Close, Volume, combined_variance,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68580" cy="150876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Full news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4937760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processed_news_dataset.csv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309,041 articles; dates 2020-01-01 to 2026-03-31; title, news text, URL and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17296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LLM article-level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4937760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llm_news_sample_1000.csv → llm_news_features_results.csv → llm_article_features_with_dates.csv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68580" cy="150876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17296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Daily / aligned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38728"/>
            <a:ext cx="4937760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llm_daily_features_sample.csv → market_llm_common_date_diagnostic.parquet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515600" cy="5943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Why separate files? Each file records a pipeline stage, allowing reproducibility, debugging, and reuse without rerunning every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FINANCIAL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Why these two variance formulas?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8580" cy="192024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44168"/>
            <a:ext cx="50749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1. Garman–Klass intraday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09928"/>
            <a:ext cx="5074920" cy="13624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GKₜ = ½[ln(Hₜ/Lₜ)]² − (2 ln 2 − 1)[ln(Cₜ/Oₜ)]²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32E3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Uses daily high/low range and open/close movement. It estimates intraday variance more informatively than close-to-close returns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8580" cy="192024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44168"/>
            <a:ext cx="50749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2. Overnight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09928"/>
            <a:ext cx="5074920" cy="13624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ONₜ = [ln(Oₜ/Cₜ₋₁)]²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32E3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Captures price jumps between the previous close and current open, when markets are closed and intraday data cannot observe the movement.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2340"/>
                </a:solidFill>
                <a:latin typeface="Aptos"/>
              </a:rPr>
              <a:t>Combined variance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515600" cy="38472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 dirty="0">
                <a:solidFill>
                  <a:srgbClr val="00979D"/>
                </a:solidFill>
                <a:latin typeface="Aptos"/>
              </a:rPr>
              <a:t>RVᶜᵒᵐ,ₜ = GKₜ + ONₜ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4572000"/>
          <a:ext cx="6766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Intraday GK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0.000364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Overnight variance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0.000099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Combined proxy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0.000463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09560" y="4663440"/>
            <a:ext cx="3383280" cy="9601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Overnight component ≈ 21.4% of mean combined variance.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Forecast targets and historical predictors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8580" cy="137160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Next-day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4937760" cy="81381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target_combined_var_next1d = next stock trading observation's combined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68580" cy="137160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Next-five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4937760" cy="81381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target_combined_var_next5d = average combined variance over next 5 stock trading observations.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22960" y="3154680"/>
          <a:ext cx="10561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Predictor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Definition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combined_var_lag1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Previous observation's combined variance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Recent shock persistence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combined_var_mean5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Mean of previous 5 observations (shifted first)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Short-term volatility level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combined_var_mean22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Mean of previous 22 observations (shifted first)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Longer-term volatility level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22960" y="5394960"/>
            <a:ext cx="10424160" cy="24622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All historical rolling features use prior values only (shift before rolling) to reduce look-ahead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What does the volatility data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55778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Statistic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GK variance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0.000364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Median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0.000181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99th percentile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0.002985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Maximum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E3E"/>
                          </a:solidFill>
                          <a:latin typeface="Aptos"/>
                        </a:rPr>
                        <a:t>0.124188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371600"/>
            <a:ext cx="4480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371600"/>
            <a:ext cx="68580" cy="1325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481328"/>
            <a:ext cx="41605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47088"/>
            <a:ext cx="416052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Mean exceeds median and the maximum is far above the 99th percentile: variance is right-skewed with occasional extreme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971800"/>
            <a:ext cx="4480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2971800"/>
            <a:ext cx="68580" cy="1325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3081528"/>
            <a:ext cx="41605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Modelling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447288"/>
            <a:ext cx="416052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Large volatility spikes can dominate squared-error metrics and are hard to forecast.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10332720" cy="6400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This motivates comparing a simple historical baseline with richer text-based signals rather than assuming complexity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LOCAL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LLM pipeline: from article text to structured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title +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965960"/>
            <a:ext cx="237744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86584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86584" y="1417320"/>
            <a:ext cx="68580" cy="150876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9464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explicit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965960"/>
            <a:ext cx="237744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141732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Qwen 2.5 1.5B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Ollama local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65960"/>
            <a:ext cx="237744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7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81927" y="1417320"/>
            <a:ext cx="68580" cy="150876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JSON parse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required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1" y="1965960"/>
            <a:ext cx="237744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41732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types / ranges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1965960"/>
            <a:ext cx="237744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77272" y="1417320"/>
            <a:ext cx="17190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77272" y="1417320"/>
            <a:ext cx="68580" cy="150876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60151" y="1527048"/>
            <a:ext cx="1399031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Retry /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0151" y="1892808"/>
            <a:ext cx="1399031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CSV results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3429000"/>
          <a:ext cx="10744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Output format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sentiment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negative / neutral / positive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Direction of expressed tone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uncertainty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integer 0–4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Ambiguity / uncertainty expressed in article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materiality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integer 0–4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Potential significance of the event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event_category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controlled category list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Type of event (e.g., earnings, macroeconomics)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affected_scope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company / sector / market-wide / unclear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Breadth of expected relevance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LLM role: transform unstructured text into features; it does not directly forecast variance and was not fine-tuned for this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MOTIVATION FOR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Why use an LLM in a volatility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8580" cy="164592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3154679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News is unstructured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3154679" cy="10881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Articles contain entities, event context, uncertainty and implications that are not represented by raw counts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8580" cy="164592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435607"/>
            <a:ext cx="3154679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Semantic feature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01368"/>
            <a:ext cx="3154679" cy="10881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LLM can map different wording to common labels such as sentiment, event type and affected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68580" cy="164592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435607"/>
            <a:ext cx="3154679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Test—not assume—value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801368"/>
            <a:ext cx="3154679" cy="10881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The model comparison checks whether those semantic features add information beyond historical volatility.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74720"/>
            <a:ext cx="1051560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2340"/>
                </a:solidFill>
                <a:latin typeface="Aptos"/>
              </a:rPr>
              <a:t>Why not simply use word counts?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10515600" cy="1417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Word counts ignore context, negation and event meaning.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An LLM offers structured, interpretable features from the article text.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However, its outputs can be biased, noisy or saturated; usefulness must be evaluated out of sample.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LLM output audit: success is not the same as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6629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Output field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Observed distribution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market_relevance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0: 42 | 1: 1 | 2: 956 | missing: 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sentiment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Positive: 484 | Neutral: 421 | Negative: 94 | missing: 1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uncertainty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0: 15 | 1: 363 | 2: 461 | 3: 152 | 4: 8 | missing: 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materiality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0: 9 | 1: 118 | 2: 325 | 3: 494 | 4: 53 | missing: 1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Extraction status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999 successful | 1 failed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41732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17320"/>
            <a:ext cx="68580" cy="123444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59" y="1527048"/>
            <a:ext cx="329184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Main 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892808"/>
            <a:ext cx="3291840" cy="6766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Relevance score is saturated at 2 for 956 articles.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2926080"/>
            <a:ext cx="68580" cy="123444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59" y="3035808"/>
            <a:ext cx="329184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3401568"/>
            <a:ext cx="3291840" cy="6766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Low variation makes this feature less useful for distinguishing articles.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424160" cy="7315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Quality-control lesson: schema validation prevents malformed outputs, but human annotation is still needed to measure semantic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TEMPORAL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How article-level signals became daily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303520" cy="34747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Join LLM results back to article IDs, dates and titles.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Convert sentiment to a numeric score: negative = −1, neutral = 0, positive = +1.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Aggregate by calendar date: means, counts, event/scope counts.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Join daily news features to each stock-date row.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2E3E"/>
                </a:solidFill>
                <a:latin typeface="Aptos"/>
              </a:rPr>
              <a:t>•  Retain only common dates with complete predictors and targets for diagnostic modelling.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17320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Coverage measure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Daily feature dates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786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Market dates with sampled news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664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Common dates retained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651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Common stock-date rows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31,293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Unique symbols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397763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3977639"/>
            <a:ext cx="68580" cy="105156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087368"/>
            <a:ext cx="48463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Missingness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53127"/>
            <a:ext cx="4846320" cy="493775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Absent sample coverage was not interpreted as zero real-world news.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MODEL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Time-series models explored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8580" cy="141732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Uses realized-volatility averages over daily, weekly and monthly horizons.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68580" cy="141732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GARCH(1,1)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Models conditional variance persistence from past shocks and past variance.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280160"/>
            <a:ext cx="68580" cy="141732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38988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GJR-GARCH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75564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Adds an asymmetric term to test whether negative shocks affect variance differently.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175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7520"/>
            <a:ext cx="68580" cy="141732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12724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Ridge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9300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Main common-date LLM comparison; regularized linear forecast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0175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017520"/>
            <a:ext cx="68580" cy="141732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12724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9300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Nonlinear tree ensemble tested earlier; underperformed baseline on combined target.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0175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3017520"/>
            <a:ext cx="68580" cy="141732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127248"/>
            <a:ext cx="320040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LightGBM / FinBERT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493008"/>
            <a:ext cx="320040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Exploratory alternatives / sentiment features in earlier experiments; news gains not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10424160" cy="5943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These branches use different targets and evaluation setups in places. Compare numerical scores only when target definition, scale and test rows match.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TIME-SERIES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HAR model: daily, weekly and monthly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9848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2340"/>
                </a:solidFill>
                <a:latin typeface="Aptos"/>
              </a:rPr>
              <a:t>Conceptual HAR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00979D"/>
                </a:solidFill>
                <a:latin typeface="Aptos"/>
              </a:rPr>
              <a:t>RVₜ₊ₕ = β₀ + β₁ RVₜ + β₂ RV̄ₜ,₅ + β₃ RV̄ₜ,₂₂ + εₜ₊ₕ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514600"/>
          <a:ext cx="6492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RVₜ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Most recent combined variance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RV̄ₜ,₅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Mean of previous 5 observations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RV̄ₜ,₂₂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Mean of previous 22 observations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β coefficients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Estimated weights learned from training data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560320"/>
            <a:ext cx="3611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560320"/>
            <a:ext cx="68580" cy="15087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2670048"/>
            <a:ext cx="329184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Why HAR?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035808"/>
            <a:ext cx="3291840" cy="9509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Captures multiple volatility horizons with a transparent, interpretable linear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515600" cy="6858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In the final common-date LLM comparison, these three historical predictors were shared by all models so the news-feature increment could be isolated.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TIME-SERIES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GARCH(1,1): conditional variance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2340"/>
                </a:solidFill>
                <a:latin typeface="Aptos"/>
              </a:rPr>
              <a:t>Core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979D"/>
                </a:solidFill>
                <a:latin typeface="Aptos"/>
              </a:rPr>
              <a:t>rₜ = μ + εₜ,     εₜ = σₜ zₜ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607040" cy="54864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00979D"/>
                </a:solidFill>
                <a:latin typeface="Aptos"/>
              </a:rPr>
              <a:t>σ²ₜ = ω + α ε²ₜ₋₁ + β σ²ₜ₋₁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68580" cy="1325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264408"/>
            <a:ext cx="30175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ω (omega)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30168"/>
            <a:ext cx="301752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Baseline variance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3154680"/>
            <a:ext cx="68580" cy="1325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3264408"/>
            <a:ext cx="30175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α (alpha)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30168"/>
            <a:ext cx="301752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Reaction to the previous shock.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3154680"/>
            <a:ext cx="68580" cy="132588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264408"/>
            <a:ext cx="30175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β (beta)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30168"/>
            <a:ext cx="301752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Persistence from previous conditional variance.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607040" cy="6858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ADANIENT.NS Student-t GARCH(1,1): α = 0.2622, β = 0.7149; α + β ≈ 0.9771. High persistence suggests volatility shocks decay slowly.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9"/>
                </a:solidFill>
                <a:latin typeface="Aptos"/>
              </a:rPr>
              <a:t>Fit on 1,085 training returns; this was a one-stock diagnostic, not the main 50-symbol LLM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ASYMMETRY AND RESIDUAL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GJR-GARCH and model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12340"/>
                </a:solidFill>
                <a:latin typeface="Aptos"/>
              </a:rPr>
              <a:t>GJR-GARCH adds an indicator for negative shocks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607040" cy="54864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979D"/>
                </a:solidFill>
                <a:latin typeface="Aptos"/>
              </a:rPr>
              <a:t>σ²ₜ = ω + α ε²ₜ₋₁ + γ I(εₜ₋₁ &lt; 0) ε²ₜ₋₁ + β σ²ₜ₋₁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606040"/>
          <a:ext cx="65379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Diagnostic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GARCH(1,1) result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α + β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0.9771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Ljung–Box residuals, lag 10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 = 0.0397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Ljung–Box residuals, lag 20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 = 0.00735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GJR asymmetry γ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0.1675 (not significant; p ≈ 0.190)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697480"/>
            <a:ext cx="3611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697480"/>
            <a:ext cx="68580" cy="141732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2807208"/>
            <a:ext cx="329184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172968"/>
            <a:ext cx="329184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Residual autocorrelation remained at some lags. GJR did not provide a decisive overall advantage.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AIC: GARCH 5124.04; GJR-GARCH 5123.27. BIC favoured standard GARCH (lower BIC), so evidence was mixed.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ONE-STOCK FORECAST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GARCH out-of-sample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6675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QLIKE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GARCH(1,1)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0.001332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0.000829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−6.632626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GJR-GARCH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0.001347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0.000846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−6.636222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417320"/>
            <a:ext cx="68580" cy="1325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27048"/>
            <a:ext cx="3108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226 test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92808"/>
            <a:ext cx="310896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ADANIENT.NS; 2025-05-06 to 2026-03-30.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17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3017520"/>
            <a:ext cx="68580" cy="1325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127248"/>
            <a:ext cx="3108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No universal winner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93008"/>
            <a:ext cx="3108960" cy="7680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GARCH better RMSE/MAE; GJR slightly better QLIKE.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818888"/>
            <a:ext cx="10424160" cy="8229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12340"/>
                </a:solidFill>
                <a:latin typeface="Aptos"/>
              </a:rPr>
              <a:t>Why include this branch? It tests classical conditional-variance modelling and supplies a financial time-series benchmark, separate from the cross-sectional LLM feature experiment.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Before vs after LLM: next-day test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3444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234440"/>
          <a:ext cx="5349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892040"/>
          <a:ext cx="1051559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 change vs baseline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Before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0.000461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0.000224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Reference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After: all LLM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0.000465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0.000248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+0.798% worse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After: focused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0.000464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0.000243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+0.552% worse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Before vs after LLM: next-five-observation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19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3444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234440"/>
          <a:ext cx="5349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892040"/>
          <a:ext cx="1051559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 change vs baseline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Before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0.000264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0.000189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Reference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After: all LLM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0.000268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0.000196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+1.482% worse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After: focused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0.000266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0.000192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+0.653% worse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STATISTICAL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Bootstrap uncertainty: are differences decisive?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Comparison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RMSE change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95% date-cluster bootstrap CI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Next day: all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+0.798%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−4.095% to +11.756%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Next day: focused LLM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+0.552%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−3.218% to +8.853%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Next 5: all LLM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+1.482%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−0.695% to +4.207%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Next 5: focused LLM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+0.653%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E3E"/>
                          </a:solidFill>
                          <a:latin typeface="Aptos"/>
                        </a:rPr>
                        <a:t>−0.095% to +1.481%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16052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68580" cy="10972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270248"/>
            <a:ext cx="46177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What the intervals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36008"/>
            <a:ext cx="4617720" cy="5394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Every interval includes zero: a clear difference is not established.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68580" cy="109728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270248"/>
            <a:ext cx="461772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What we can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36008"/>
            <a:ext cx="4617720" cy="5394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LLM features did not improve point estimates in this test sample.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Positive RMSE change means the LLM-augmented model has higher error (worse RMSE).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EXPLORATORY 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Which LLM features were associated with volatility?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325880"/>
            <a:ext cx="0" cy="4206240"/>
          </a:xfrm>
          <a:prstGeom prst="line">
            <a:avLst/>
          </a:prstGeom>
          <a:ln>
            <a:solidFill>
              <a:srgbClr val="64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389888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Mean uncertainty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417320"/>
            <a:ext cx="2087350" cy="182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389888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+0.126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9656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Negative-news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47088"/>
            <a:ext cx="1695600" cy="182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1819656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+0.103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Mean materiality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276856"/>
            <a:ext cx="606468" cy="182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249424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+0.037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79191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Company-scope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706623"/>
            <a:ext cx="335880" cy="182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2679191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+0.020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Market-wide 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136391"/>
            <a:ext cx="22810" cy="18288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3108960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+0.001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38727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Sampled-news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309" y="3566159"/>
            <a:ext cx="210090" cy="182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3538727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-0.013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68496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Market-movement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98451" y="3995928"/>
            <a:ext cx="387948" cy="182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3968496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-0.023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98264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Positive-news 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3704" y="4425696"/>
            <a:ext cx="1382695" cy="182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20" y="4398264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-0.084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28031"/>
            <a:ext cx="2468880" cy="237744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2E3E"/>
                </a:solidFill>
                <a:latin typeface="Aptos"/>
              </a:rPr>
              <a:t>Mean sentiment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5674" y="4855464"/>
            <a:ext cx="1740725" cy="18288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4828031"/>
            <a:ext cx="1097280" cy="2286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2340"/>
                </a:solidFill>
                <a:latin typeface="Aptos"/>
              </a:rPr>
              <a:t>-0.105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64592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1645920"/>
            <a:ext cx="68580" cy="141732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1755648"/>
            <a:ext cx="1965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Largest positive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121408"/>
            <a:ext cx="196596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Uncertainty: +0.126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333756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0" y="3337560"/>
            <a:ext cx="68580" cy="141732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3447288"/>
            <a:ext cx="1965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Largest negative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813048"/>
            <a:ext cx="1965960" cy="85953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2E3E"/>
                </a:solidFill>
                <a:latin typeface="Aptos"/>
              </a:rPr>
              <a:t>Sentiment: −0.105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577840"/>
            <a:ext cx="10515600" cy="23083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Correlations are modest and descriptive. Pairwise association does not guarantee incremental forecasting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MODEL COMPARISON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What other model experiments taught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835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 / target branch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Key result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Lesson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Combined-target HAR, validation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Log-HAR: 1d RMSE 0.000910; 5d RMSE 0.000504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Log transform helped with skew but R² remained negative.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Random Forest, combined target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1d RMSE 0.000998; 5d RMSE 0.000729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Worse than training-mean / log-HAR in that setup.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GARCH vs GJR-GARCH, ADANIENT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Mixed metrics; no decisive winner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Classical conditional variance is useful benchmark, but diagnostics matter.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Earlier GK-target LightGBM + news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Historical-only generally beat news features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News addition did not consistently improve forecasts.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5447538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1228" y="5481828"/>
            <a:ext cx="68580" cy="59436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0694" y="5504688"/>
            <a:ext cx="1001268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12340"/>
                </a:solidFill>
                <a:latin typeface="Aptos"/>
              </a:rPr>
              <a:t>Overall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012680" cy="3657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232E3E"/>
                </a:solidFill>
                <a:latin typeface="Aptos"/>
              </a:rPr>
              <a:t>More complex models and more features do not guarantee better out-of-sample forecasting.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972800" cy="201168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979D"/>
                </a:solidFill>
                <a:latin typeface="Aptos"/>
              </a:rPr>
              <a:t>RESEARCH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972800" cy="53035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12340"/>
                </a:solidFill>
                <a:latin typeface="Aptos"/>
              </a:rPr>
              <a:t>What should improve in the next version?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489"/>
                </a:solidFill>
                <a:latin typeface="Aptos"/>
              </a:rPr>
              <a:t>ENABLING TECHNOLOGIES  •  COURSE 6.5MBD01  •  CURAJ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47489"/>
                </a:solidFill>
                <a:latin typeface="Aptos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Issue observed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Next improvement</a:t>
                      </a:r>
                    </a:p>
                  </a:txBody>
                  <a:tcPr marL="54864" marR="36576" marT="32004" marB="22860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Only 1,000 / 309,041 articles processed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Sparse / potentially biased news coverage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Process a larger representative sample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Market relevance mostly score 2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Feature has limited discrimination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Revise rubric; validate against human labels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Daily aggregation by date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May miss timing and company-specific relevance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Use timestamps, company/entity matching and fixed cutoff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LLM outputs not human-verified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Schema-valid is not semantic accuracy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Create annotated test set; report agreement / F1</a:t>
                      </a:r>
                    </a:p>
                  </a:txBody>
                  <a:tcPr marL="54864" marR="36576" marT="32004" marB="228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PySpark not used in final model cells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Big Data claim needs implementation evidence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2E3E"/>
                          </a:solidFill>
                          <a:latin typeface="Aptos"/>
                        </a:rPr>
                        <a:t>Add Spark ETL/aggregation and benchmark runtime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709160"/>
            <a:ext cx="10424160" cy="5943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These improvements target data coverage, label quality, temporal alignment and reproducibility—not just a larger model.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CD3C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What did the project establish?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8580" cy="146304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108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LLM pipeline 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3108960" cy="9052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999 of 1,000 sampled articles passed schema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68580" cy="1463040"/>
          </a:xfrm>
          <a:prstGeom prst="rect">
            <a:avLst/>
          </a:prstGeom>
          <a:solidFill>
            <a:srgbClr val="EA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3108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Forecast gain not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04288"/>
            <a:ext cx="3108960" cy="9052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Historical-only had lower RMSE and MAE at both horizons.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68580" cy="1463040"/>
          </a:xfrm>
          <a:prstGeom prst="rect">
            <a:avLst/>
          </a:prstGeom>
          <a:solidFill>
            <a:srgbClr val="BE4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938528"/>
            <a:ext cx="3108960" cy="31089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Uncertainty remains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04288"/>
            <a:ext cx="3108960" cy="905256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2E3E"/>
                </a:solidFill>
                <a:latin typeface="Aptos"/>
              </a:rPr>
              <a:t>All bootstrap confidence intervals included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607040" cy="11430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Final conclusion: LLM-derived features were technically extractable, but this experiment did not demonstrate additional out-of-sample forecasting value beyond historical variance predictors.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D3CA"/>
                </a:solidFill>
                <a:latin typeface="Aptos"/>
              </a:rP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3322</Words>
  <Application>Microsoft Office PowerPoint</Application>
  <PresentationFormat>Widescreen</PresentationFormat>
  <Paragraphs>521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Priti Prakash Mohanta</cp:lastModifiedBy>
  <cp:revision>2</cp:revision>
  <dcterms:created xsi:type="dcterms:W3CDTF">2013-01-27T09:14:16Z</dcterms:created>
  <dcterms:modified xsi:type="dcterms:W3CDTF">2026-10-22T05:09:40Z</dcterms:modified>
  <cp:category/>
</cp:coreProperties>
</file>